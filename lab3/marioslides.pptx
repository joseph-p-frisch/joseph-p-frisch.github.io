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6" r:id="rId1"/>
  </p:sldMasterIdLst>
  <p:notesMasterIdLst>
    <p:notesMasterId r:id="rId10"/>
  </p:notesMasterIdLst>
  <p:handoutMasterIdLst>
    <p:handoutMasterId r:id="rId11"/>
  </p:handoutMasterIdLst>
  <p:sldIdLst>
    <p:sldId id="256" r:id="rId2"/>
    <p:sldId id="415" r:id="rId3"/>
    <p:sldId id="509" r:id="rId4"/>
    <p:sldId id="504" r:id="rId5"/>
    <p:sldId id="518" r:id="rId6"/>
    <p:sldId id="516" r:id="rId7"/>
    <p:sldId id="289" r:id="rId8"/>
    <p:sldId id="520" r:id="rId9"/>
  </p:sldIdLst>
  <p:sldSz cx="9144000" cy="6858000" type="screen4x3"/>
  <p:notesSz cx="9283700" cy="6997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clrMru>
    <a:srgbClr val="B2B2B2"/>
    <a:srgbClr val="CC0066"/>
    <a:srgbClr val="FFFF00"/>
    <a:srgbClr val="008000"/>
    <a:srgbClr val="660033"/>
    <a:srgbClr val="FF6600"/>
    <a:srgbClr val="33CC33"/>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40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186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8C9FD88D-B571-4CAB-4982-0DBBFA387C07}"/>
              </a:ext>
            </a:extLst>
          </p:cNvPr>
          <p:cNvSpPr>
            <a:spLocks noGrp="1" noChangeArrowheads="1"/>
          </p:cNvSpPr>
          <p:nvPr>
            <p:ph type="hdr" sz="quarter"/>
          </p:nvPr>
        </p:nvSpPr>
        <p:spPr bwMode="auto">
          <a:xfrm>
            <a:off x="0" y="0"/>
            <a:ext cx="4022725" cy="3492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a:defRPr sz="1200"/>
            </a:lvl1pPr>
          </a:lstStyle>
          <a:p>
            <a:endParaRPr lang="en-US" altLang="en-US"/>
          </a:p>
        </p:txBody>
      </p:sp>
      <p:sp>
        <p:nvSpPr>
          <p:cNvPr id="247811" name="Rectangle 3">
            <a:extLst>
              <a:ext uri="{FF2B5EF4-FFF2-40B4-BE49-F238E27FC236}">
                <a16:creationId xmlns:a16="http://schemas.microsoft.com/office/drawing/2014/main" id="{5D1BB073-13B5-F1BC-2879-7D459819F73E}"/>
              </a:ext>
            </a:extLst>
          </p:cNvPr>
          <p:cNvSpPr>
            <a:spLocks noGrp="1" noChangeArrowheads="1"/>
          </p:cNvSpPr>
          <p:nvPr>
            <p:ph type="dt" sz="quarter" idx="1"/>
          </p:nvPr>
        </p:nvSpPr>
        <p:spPr bwMode="auto">
          <a:xfrm>
            <a:off x="5259388" y="0"/>
            <a:ext cx="4022725" cy="3492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a:defRPr sz="1200"/>
            </a:lvl1pPr>
          </a:lstStyle>
          <a:p>
            <a:endParaRPr lang="en-US" altLang="en-US"/>
          </a:p>
        </p:txBody>
      </p:sp>
      <p:sp>
        <p:nvSpPr>
          <p:cNvPr id="247812" name="Rectangle 4">
            <a:extLst>
              <a:ext uri="{FF2B5EF4-FFF2-40B4-BE49-F238E27FC236}">
                <a16:creationId xmlns:a16="http://schemas.microsoft.com/office/drawing/2014/main" id="{F792D1D9-F84A-ABDC-90DB-CB0EC7ADD21A}"/>
              </a:ext>
            </a:extLst>
          </p:cNvPr>
          <p:cNvSpPr>
            <a:spLocks noGrp="1" noChangeArrowheads="1"/>
          </p:cNvSpPr>
          <p:nvPr>
            <p:ph type="ftr" sz="quarter" idx="2"/>
          </p:nvPr>
        </p:nvSpPr>
        <p:spPr bwMode="auto">
          <a:xfrm>
            <a:off x="0" y="6646863"/>
            <a:ext cx="4022725" cy="349250"/>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a:defRPr sz="1200"/>
            </a:lvl1pPr>
          </a:lstStyle>
          <a:p>
            <a:endParaRPr lang="en-US" altLang="en-US"/>
          </a:p>
        </p:txBody>
      </p:sp>
      <p:sp>
        <p:nvSpPr>
          <p:cNvPr id="247813" name="Rectangle 5">
            <a:extLst>
              <a:ext uri="{FF2B5EF4-FFF2-40B4-BE49-F238E27FC236}">
                <a16:creationId xmlns:a16="http://schemas.microsoft.com/office/drawing/2014/main" id="{CE5A3C78-9CB8-1D74-59A6-EECDFE725358}"/>
              </a:ext>
            </a:extLst>
          </p:cNvPr>
          <p:cNvSpPr>
            <a:spLocks noGrp="1" noChangeArrowheads="1"/>
          </p:cNvSpPr>
          <p:nvPr>
            <p:ph type="sldNum" sz="quarter" idx="3"/>
          </p:nvPr>
        </p:nvSpPr>
        <p:spPr bwMode="auto">
          <a:xfrm>
            <a:off x="5259388" y="6646863"/>
            <a:ext cx="4022725" cy="349250"/>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a:defRPr sz="1200"/>
            </a:lvl1pPr>
          </a:lstStyle>
          <a:p>
            <a:fld id="{D58B3290-0D94-4332-BF15-1662689CD3A4}"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33C73042-45D7-BE07-0F7A-29A3FFE1CB0C}"/>
              </a:ext>
            </a:extLst>
          </p:cNvPr>
          <p:cNvSpPr>
            <a:spLocks noGrp="1" noChangeArrowheads="1"/>
          </p:cNvSpPr>
          <p:nvPr>
            <p:ph type="hdr" sz="quarter"/>
          </p:nvPr>
        </p:nvSpPr>
        <p:spPr bwMode="auto">
          <a:xfrm>
            <a:off x="0" y="0"/>
            <a:ext cx="4022725"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262147" name="Rectangle 3">
            <a:extLst>
              <a:ext uri="{FF2B5EF4-FFF2-40B4-BE49-F238E27FC236}">
                <a16:creationId xmlns:a16="http://schemas.microsoft.com/office/drawing/2014/main" id="{030D1101-657E-EECF-BE88-A6939EA4555B}"/>
              </a:ext>
            </a:extLst>
          </p:cNvPr>
          <p:cNvSpPr>
            <a:spLocks noGrp="1" noChangeArrowheads="1"/>
          </p:cNvSpPr>
          <p:nvPr>
            <p:ph type="dt" idx="1"/>
          </p:nvPr>
        </p:nvSpPr>
        <p:spPr bwMode="auto">
          <a:xfrm>
            <a:off x="5259388" y="0"/>
            <a:ext cx="4022725"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4340" name="Rectangle 4">
            <a:extLst>
              <a:ext uri="{FF2B5EF4-FFF2-40B4-BE49-F238E27FC236}">
                <a16:creationId xmlns:a16="http://schemas.microsoft.com/office/drawing/2014/main" id="{C8554292-2769-50D0-F88F-557D05169F47}"/>
              </a:ext>
            </a:extLst>
          </p:cNvPr>
          <p:cNvSpPr>
            <a:spLocks noGrp="1" noRot="1" noChangeAspect="1" noChangeArrowheads="1" noTextEdit="1"/>
          </p:cNvSpPr>
          <p:nvPr>
            <p:ph type="sldImg" idx="2"/>
          </p:nvPr>
        </p:nvSpPr>
        <p:spPr bwMode="auto">
          <a:xfrm>
            <a:off x="2892425" y="525463"/>
            <a:ext cx="3498850" cy="26241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2149" name="Rectangle 5">
            <a:extLst>
              <a:ext uri="{FF2B5EF4-FFF2-40B4-BE49-F238E27FC236}">
                <a16:creationId xmlns:a16="http://schemas.microsoft.com/office/drawing/2014/main" id="{CB758E18-8094-34CF-1FF3-16966384DB19}"/>
              </a:ext>
            </a:extLst>
          </p:cNvPr>
          <p:cNvSpPr>
            <a:spLocks noGrp="1" noChangeArrowheads="1"/>
          </p:cNvSpPr>
          <p:nvPr>
            <p:ph type="body" sz="quarter" idx="3"/>
          </p:nvPr>
        </p:nvSpPr>
        <p:spPr bwMode="auto">
          <a:xfrm>
            <a:off x="928688" y="3324225"/>
            <a:ext cx="7426325" cy="3148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62150" name="Rectangle 6">
            <a:extLst>
              <a:ext uri="{FF2B5EF4-FFF2-40B4-BE49-F238E27FC236}">
                <a16:creationId xmlns:a16="http://schemas.microsoft.com/office/drawing/2014/main" id="{F68CCF89-C4A4-AC11-0D5A-47C651572919}"/>
              </a:ext>
            </a:extLst>
          </p:cNvPr>
          <p:cNvSpPr>
            <a:spLocks noGrp="1" noChangeArrowheads="1"/>
          </p:cNvSpPr>
          <p:nvPr>
            <p:ph type="ftr" sz="quarter" idx="4"/>
          </p:nvPr>
        </p:nvSpPr>
        <p:spPr bwMode="auto">
          <a:xfrm>
            <a:off x="0" y="6646863"/>
            <a:ext cx="40227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262151" name="Rectangle 7">
            <a:extLst>
              <a:ext uri="{FF2B5EF4-FFF2-40B4-BE49-F238E27FC236}">
                <a16:creationId xmlns:a16="http://schemas.microsoft.com/office/drawing/2014/main" id="{E5B08AD4-27F1-8A74-EE6A-7CFF85DA1D7D}"/>
              </a:ext>
            </a:extLst>
          </p:cNvPr>
          <p:cNvSpPr>
            <a:spLocks noGrp="1" noChangeArrowheads="1"/>
          </p:cNvSpPr>
          <p:nvPr>
            <p:ph type="sldNum" sz="quarter" idx="5"/>
          </p:nvPr>
        </p:nvSpPr>
        <p:spPr bwMode="auto">
          <a:xfrm>
            <a:off x="5259388" y="6646863"/>
            <a:ext cx="40227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686E57C-DA52-493A-9571-E98A5389D050}" type="slidenum">
              <a:rPr lang="en-US" altLang="en-US"/>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ADB1495-0700-5D61-A349-76A339299E3F}"/>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68AB7AA-833F-97F5-668D-08CF4C20E3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2F8F384-D044-61E1-7296-4FA2604818AA}"/>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158EB926-C6E3-FAC4-60F7-86DC6FB417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2FDF97E-7D09-920D-344E-342E6DF938A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5E94EC00-5A40-8675-3D79-0536EDA7BB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644002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77A9C4AB-F8E3-805D-5088-72C15631F1E1}"/>
              </a:ext>
            </a:extLst>
          </p:cNvPr>
          <p:cNvSpPr>
            <a:spLocks noGrp="1" noRot="1" noChangeAspect="1"/>
          </p:cNvSpPr>
          <p:nvPr>
            <p:ph type="sldImg"/>
          </p:nvPr>
        </p:nvSpPr>
        <p:spPr>
          <a:ln/>
        </p:spPr>
      </p:sp>
      <p:sp>
        <p:nvSpPr>
          <p:cNvPr id="23555" name="Notes Placeholder 2">
            <a:extLst>
              <a:ext uri="{FF2B5EF4-FFF2-40B4-BE49-F238E27FC236}">
                <a16:creationId xmlns:a16="http://schemas.microsoft.com/office/drawing/2014/main" id="{962C44DB-4BA7-9861-5CD1-9358758EE6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B8401E7-0599-C146-0AB3-E71D03C4C24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FABF9EA9-5898-447E-D476-295C8B523F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6/21/2025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83581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CIS 391 Fall 2008 </a:t>
            </a:r>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r>
              <a:rPr lang="en-US" altLang="en-US"/>
              <a:t>       </a:t>
            </a:r>
            <a:fld id="{71113F6B-1C41-44FF-953E-B4C1775F770A}" type="slidenum">
              <a:rPr lang="en-US" altLang="en-US" smtClean="0"/>
              <a:pPr/>
              <a:t>‹#›</a:t>
            </a:fld>
            <a:endParaRPr lang="en-US" altLang="en-US"/>
          </a:p>
        </p:txBody>
      </p:sp>
    </p:spTree>
    <p:extLst>
      <p:ext uri="{BB962C8B-B14F-4D97-AF65-F5344CB8AC3E}">
        <p14:creationId xmlns:p14="http://schemas.microsoft.com/office/powerpoint/2010/main" val="643855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ltLang="en-US"/>
              <a:t>CIS 391 Fall 2008 </a:t>
            </a:r>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r>
              <a:rPr lang="en-US" altLang="en-US"/>
              <a:t>       </a:t>
            </a:r>
            <a:fld id="{2F9F64D5-8F91-48B3-87D4-1BE6B4E5FC96}" type="slidenum">
              <a:rPr lang="en-US" altLang="en-US" smtClean="0"/>
              <a:pPr/>
              <a:t>‹#›</a:t>
            </a:fld>
            <a:endParaRPr lang="en-US" altLang="en-US"/>
          </a:p>
        </p:txBody>
      </p:sp>
    </p:spTree>
    <p:extLst>
      <p:ext uri="{BB962C8B-B14F-4D97-AF65-F5344CB8AC3E}">
        <p14:creationId xmlns:p14="http://schemas.microsoft.com/office/powerpoint/2010/main" val="142484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ltLang="en-US"/>
              <a:t>CIS 391 Fall 2008 </a:t>
            </a:r>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r>
              <a:rPr lang="en-US" altLang="en-US"/>
              <a:t>       </a:t>
            </a:r>
            <a:fld id="{C3281239-571B-49FA-8C27-F3E2A7A04E8C}" type="slidenum">
              <a:rPr lang="en-US" altLang="en-US" smtClean="0"/>
              <a:pPr/>
              <a:t>‹#›</a:t>
            </a:fld>
            <a:endParaRPr lang="en-US" altLang="en-US"/>
          </a:p>
        </p:txBody>
      </p:sp>
    </p:spTree>
    <p:extLst>
      <p:ext uri="{BB962C8B-B14F-4D97-AF65-F5344CB8AC3E}">
        <p14:creationId xmlns:p14="http://schemas.microsoft.com/office/powerpoint/2010/main" val="2369722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2">
                    <a:lumMod val="7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ltLang="en-US"/>
              <a:t>CIS 391 Fall 2008 </a:t>
            </a:r>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r>
              <a:rPr lang="en-US" altLang="en-US"/>
              <a:t>       </a:t>
            </a:r>
            <a:fld id="{5AFFA788-7131-4A63-ACDB-EC45F1710861}" type="slidenum">
              <a:rPr lang="en-US" altLang="en-US" smtClean="0"/>
              <a:pPr/>
              <a:t>‹#›</a:t>
            </a:fld>
            <a:endParaRPr lang="en-US" altLang="en-US"/>
          </a:p>
        </p:txBody>
      </p:sp>
    </p:spTree>
    <p:extLst>
      <p:ext uri="{BB962C8B-B14F-4D97-AF65-F5344CB8AC3E}">
        <p14:creationId xmlns:p14="http://schemas.microsoft.com/office/powerpoint/2010/main" val="2794888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ltLang="en-US"/>
              <a:t>CIS 391 Fall 2008 </a:t>
            </a:r>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r>
              <a:rPr lang="en-US" altLang="en-US"/>
              <a:t>       </a:t>
            </a:r>
            <a:fld id="{41443430-A2B2-455A-B597-DB8B5A68F7B7}" type="slidenum">
              <a:rPr lang="en-US" altLang="en-US" smtClean="0"/>
              <a:pPr/>
              <a:t>‹#›</a:t>
            </a:fld>
            <a:endParaRPr lang="en-US" altLang="en-US"/>
          </a:p>
        </p:txBody>
      </p:sp>
    </p:spTree>
    <p:extLst>
      <p:ext uri="{BB962C8B-B14F-4D97-AF65-F5344CB8AC3E}">
        <p14:creationId xmlns:p14="http://schemas.microsoft.com/office/powerpoint/2010/main" val="2732253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en-US"/>
              <a:t>CIS 391 Fall 2008 </a:t>
            </a:r>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r>
              <a:rPr lang="en-US" altLang="en-US"/>
              <a:t>       </a:t>
            </a:r>
            <a:fld id="{17929FC9-D2D4-4620-B802-57AB9C2DDD1A}" type="slidenum">
              <a:rPr lang="en-US" altLang="en-US" smtClean="0"/>
              <a:pPr/>
              <a:t>‹#›</a:t>
            </a:fld>
            <a:endParaRPr lang="en-US" altLang="en-US"/>
          </a:p>
        </p:txBody>
      </p:sp>
    </p:spTree>
    <p:extLst>
      <p:ext uri="{BB962C8B-B14F-4D97-AF65-F5344CB8AC3E}">
        <p14:creationId xmlns:p14="http://schemas.microsoft.com/office/powerpoint/2010/main" val="3761768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r>
              <a:rPr lang="en-US" altLang="en-US"/>
              <a:t>CIS 391 Fall 2008 </a:t>
            </a:r>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r>
              <a:rPr lang="en-US" altLang="en-US"/>
              <a:t>       </a:t>
            </a:r>
            <a:fld id="{2D49062B-2EDB-4BCE-B3C3-5BAD2D390094}" type="slidenum">
              <a:rPr lang="en-US" altLang="en-US" smtClean="0"/>
              <a:pPr/>
              <a:t>‹#›</a:t>
            </a:fld>
            <a:endParaRPr lang="en-US" altLang="en-US"/>
          </a:p>
        </p:txBody>
      </p:sp>
    </p:spTree>
    <p:extLst>
      <p:ext uri="{BB962C8B-B14F-4D97-AF65-F5344CB8AC3E}">
        <p14:creationId xmlns:p14="http://schemas.microsoft.com/office/powerpoint/2010/main" val="81316681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tx2"/>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ltLang="en-US"/>
              <a:t>CIS 391 Fall 2008 </a:t>
            </a:r>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r>
              <a:rPr lang="en-US" altLang="en-US"/>
              <a:t>       </a:t>
            </a:r>
            <a:fld id="{ACC666F4-9836-4C00-B0BB-42A1C90D7F5B}" type="slidenum">
              <a:rPr lang="en-US" altLang="en-US" smtClean="0"/>
              <a:pPr/>
              <a:t>‹#›</a:t>
            </a:fld>
            <a:endParaRPr lang="en-US" altLang="en-US"/>
          </a:p>
        </p:txBody>
      </p:sp>
    </p:spTree>
    <p:extLst>
      <p:ext uri="{BB962C8B-B14F-4D97-AF65-F5344CB8AC3E}">
        <p14:creationId xmlns:p14="http://schemas.microsoft.com/office/powerpoint/2010/main" val="95477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CIS 391 Fall 2008 </a:t>
            </a:r>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r>
              <a:rPr lang="en-US" altLang="en-US"/>
              <a:t>       </a:t>
            </a:r>
            <a:fld id="{E845A4F7-0C13-4816-9781-BE6EBB4411CA}" type="slidenum">
              <a:rPr lang="en-US" altLang="en-US" smtClean="0"/>
              <a:pPr/>
              <a:t>‹#›</a:t>
            </a:fld>
            <a:endParaRPr lang="en-US" altLang="en-US"/>
          </a:p>
        </p:txBody>
      </p:sp>
    </p:spTree>
    <p:extLst>
      <p:ext uri="{BB962C8B-B14F-4D97-AF65-F5344CB8AC3E}">
        <p14:creationId xmlns:p14="http://schemas.microsoft.com/office/powerpoint/2010/main" val="3286248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en-US"/>
              <a:t>CIS 391 Fall 2008 </a:t>
            </a:r>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r>
              <a:rPr lang="en-US" altLang="en-US"/>
              <a:t>       </a:t>
            </a:r>
            <a:fld id="{1D07D1DA-FAFB-4060-92B2-14FC7E4D14BB}" type="slidenum">
              <a:rPr lang="en-US" altLang="en-US" smtClean="0"/>
              <a:pPr/>
              <a:t>‹#›</a:t>
            </a:fld>
            <a:endParaRPr lang="en-US" altLang="en-US"/>
          </a:p>
        </p:txBody>
      </p:sp>
    </p:spTree>
    <p:extLst>
      <p:ext uri="{BB962C8B-B14F-4D97-AF65-F5344CB8AC3E}">
        <p14:creationId xmlns:p14="http://schemas.microsoft.com/office/powerpoint/2010/main" val="414283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586B75A-687E-405C-8A0B-8D00578BA2C3}" type="datetimeFigureOut">
              <a:rPr lang="en-US" smtClean="0"/>
              <a:pPr/>
              <a:t>6/21/2025</a:t>
            </a:fld>
            <a:endParaRPr lang="en-US" dirty="0"/>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dirty="0"/>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tx1">
                    <a:alpha val="20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57994096"/>
      </p:ext>
    </p:extLst>
  </p:cSld>
  <p:clrMap bg1="dk1" tx1="lt1" bg2="dk2" tx2="lt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Lst>
  <p:hf sldNum="0" hdr="0" ftr="0" dt="0"/>
  <p:txStyles>
    <p:titleStyle>
      <a:lvl1pPr algn="l" defTabSz="914400" rtl="0" eaLnBrk="1" latinLnBrk="0" hangingPunct="1">
        <a:lnSpc>
          <a:spcPct val="90000"/>
        </a:lnSpc>
        <a:spcBef>
          <a:spcPct val="0"/>
        </a:spcBef>
        <a:buNone/>
        <a:defRPr sz="48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2">
              <a:lumMod val="7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2">
              <a:lumMod val="7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2">
              <a:lumMod val="7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2">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5D60DF6-E01A-D9BD-8F2F-2D878A4054BB}"/>
              </a:ext>
            </a:extLst>
          </p:cNvPr>
          <p:cNvSpPr>
            <a:spLocks noGrp="1" noChangeArrowheads="1"/>
          </p:cNvSpPr>
          <p:nvPr>
            <p:ph type="ctrTitle"/>
          </p:nvPr>
        </p:nvSpPr>
        <p:spPr>
          <a:xfrm>
            <a:off x="228600" y="1069258"/>
            <a:ext cx="8305800" cy="2819400"/>
          </a:xfrm>
          <a:noFill/>
        </p:spPr>
        <p:txBody>
          <a:bodyPr/>
          <a:lstStyle/>
          <a:p>
            <a:r>
              <a:rPr lang="en-US" altLang="en-US" sz="5000" b="0" dirty="0">
                <a:effectLst>
                  <a:outerShdw blurRad="38100" dist="38100" dir="2700000" algn="tl">
                    <a:srgbClr val="C0C0C0"/>
                  </a:outerShdw>
                </a:effectLst>
                <a:latin typeface="Calibri" panose="020F0502020204030204" pitchFamily="34" charset="0"/>
                <a:ea typeface="ＭＳ Ｐゴシック" panose="020B0600070205080204" pitchFamily="34" charset="-128"/>
                <a:cs typeface="Calibri" panose="020F0502020204030204" pitchFamily="34" charset="0"/>
              </a:rPr>
              <a:t>Python Programming: </a:t>
            </a:r>
            <a:r>
              <a:rPr lang="en-US" altLang="en-US" sz="5400" dirty="0">
                <a:effectLst>
                  <a:outerShdw blurRad="38100" dist="38100" dir="2700000" algn="tl">
                    <a:srgbClr val="000000"/>
                  </a:outerShdw>
                </a:effectLst>
                <a:ea typeface="ＭＳ Ｐゴシック" panose="020B0600070205080204" pitchFamily="34" charset="-128"/>
              </a:rPr>
              <a:t>Super Mario Game</a:t>
            </a:r>
            <a:endParaRPr lang="en-US" altLang="en-US" sz="5000" b="0" dirty="0">
              <a:effectLst>
                <a:outerShdw blurRad="38100" dist="38100" dir="2700000" algn="tl">
                  <a:srgbClr val="C0C0C0"/>
                </a:outerShdw>
              </a:effectLst>
              <a:latin typeface="Calibri" panose="020F0502020204030204" pitchFamily="34" charset="0"/>
              <a:ea typeface="ＭＳ Ｐゴシック" panose="020B0600070205080204" pitchFamily="34" charset="-128"/>
              <a:cs typeface="Calibri" panose="020F0502020204030204" pitchFamily="34" charset="0"/>
            </a:endParaRPr>
          </a:p>
        </p:txBody>
      </p:sp>
      <p:pic>
        <p:nvPicPr>
          <p:cNvPr id="15363" name="Picture 5" descr="j0111078">
            <a:extLst>
              <a:ext uri="{FF2B5EF4-FFF2-40B4-BE49-F238E27FC236}">
                <a16:creationId xmlns:a16="http://schemas.microsoft.com/office/drawing/2014/main" id="{4085B83F-8308-CF55-9FFC-018DCBA56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3844925"/>
            <a:ext cx="1752600"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3">
            <a:extLst>
              <a:ext uri="{FF2B5EF4-FFF2-40B4-BE49-F238E27FC236}">
                <a16:creationId xmlns:a16="http://schemas.microsoft.com/office/drawing/2014/main" id="{E6C835CC-EE69-921B-6EE0-2756C8FF656C}"/>
              </a:ext>
            </a:extLst>
          </p:cNvPr>
          <p:cNvSpPr txBox="1">
            <a:spLocks noChangeArrowheads="1"/>
          </p:cNvSpPr>
          <p:nvPr/>
        </p:nvSpPr>
        <p:spPr bwMode="auto">
          <a:xfrm>
            <a:off x="201561" y="4800600"/>
            <a:ext cx="71628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37931725" indent="-37474525" eaLnBrk="0" hangingPunct="0">
              <a:defRPr sz="2400">
                <a:solidFill>
                  <a:schemeClr val="tx1"/>
                </a:solidFill>
                <a:latin typeface="Times New Roman" panose="02020603050405020304" pitchFamily="18" charset="0"/>
                <a:cs typeface="Arial" panose="020B0604020202020204" pitchFamily="34" charset="0"/>
              </a:defRPr>
            </a:lvl2pPr>
            <a:lvl3pPr eaLnBrk="0" hangingPunct="0">
              <a:defRPr sz="2400">
                <a:solidFill>
                  <a:schemeClr val="tx1"/>
                </a:solidFill>
                <a:latin typeface="Times New Roman" panose="02020603050405020304" pitchFamily="18" charset="0"/>
                <a:cs typeface="Arial" panose="020B0604020202020204" pitchFamily="34" charset="0"/>
              </a:defRPr>
            </a:lvl3pPr>
            <a:lvl4pPr eaLnBrk="0" hangingPunct="0">
              <a:defRPr sz="2400">
                <a:solidFill>
                  <a:schemeClr val="tx1"/>
                </a:solidFill>
                <a:latin typeface="Times New Roman" panose="02020603050405020304" pitchFamily="18" charset="0"/>
                <a:cs typeface="Arial" panose="020B0604020202020204" pitchFamily="34" charset="0"/>
              </a:defRPr>
            </a:lvl4pPr>
            <a:lvl5pPr eaLnBrk="0" hangingPunct="0">
              <a:defRPr sz="2400">
                <a:solidFill>
                  <a:schemeClr val="tx1"/>
                </a:solidFill>
                <a:latin typeface="Times New Roman" panose="02020603050405020304" pitchFamily="18" charset="0"/>
                <a:cs typeface="Arial" panose="020B0604020202020204" pitchFamily="34" charset="0"/>
              </a:defRPr>
            </a:lvl5pPr>
            <a:lvl6pPr marL="4572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9144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1371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18288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2600" b="1" dirty="0">
                <a:solidFill>
                  <a:schemeClr val="accent1">
                    <a:lumMod val="20000"/>
                    <a:lumOff val="80000"/>
                  </a:schemeClr>
                </a:solidFill>
                <a:latin typeface="Calibri" panose="020F0502020204030204" pitchFamily="34" charset="0"/>
                <a:cs typeface="Calibri" panose="020F0502020204030204" pitchFamily="34" charset="0"/>
              </a:rPr>
              <a:t>Prof. Xin Wang, PhD, SMIEEE</a:t>
            </a:r>
          </a:p>
          <a:p>
            <a:r>
              <a:rPr lang="en-US" altLang="en-US" sz="2600" dirty="0">
                <a:solidFill>
                  <a:schemeClr val="accent1">
                    <a:lumMod val="20000"/>
                    <a:lumOff val="80000"/>
                  </a:schemeClr>
                </a:solidFill>
                <a:latin typeface="Calibri" panose="020F0502020204030204" pitchFamily="34" charset="0"/>
                <a:cs typeface="Calibri" panose="020F0502020204030204" pitchFamily="34" charset="0"/>
              </a:rPr>
              <a:t>Department of Electrical Engineering</a:t>
            </a:r>
          </a:p>
        </p:txBody>
      </p:sp>
      <p:pic>
        <p:nvPicPr>
          <p:cNvPr id="15365" name="Picture 4">
            <a:extLst>
              <a:ext uri="{FF2B5EF4-FFF2-40B4-BE49-F238E27FC236}">
                <a16:creationId xmlns:a16="http://schemas.microsoft.com/office/drawing/2014/main" id="{F2EF420F-B469-43E4-AA92-AA57A79EE76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2116" y="4977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9CB91185-8A6F-7F68-35A7-597BF1F1822D}"/>
              </a:ext>
            </a:extLst>
          </p:cNvPr>
          <p:cNvSpPr>
            <a:spLocks noGrp="1" noChangeArrowheads="1"/>
          </p:cNvSpPr>
          <p:nvPr>
            <p:ph type="title"/>
          </p:nvPr>
        </p:nvSpPr>
        <p:spPr>
          <a:xfrm>
            <a:off x="452628" y="770467"/>
            <a:ext cx="3154176" cy="3352800"/>
          </a:xfrm>
        </p:spPr>
        <p:txBody>
          <a:bodyPr vert="horz" lIns="91440" tIns="45720" rIns="91440" bIns="45720" rtlCol="0" anchor="b">
            <a:normAutofit/>
          </a:bodyPr>
          <a:lstStyle/>
          <a:p>
            <a:pPr>
              <a:lnSpc>
                <a:spcPct val="80000"/>
              </a:lnSpc>
            </a:pPr>
            <a:r>
              <a:rPr lang="en-US" altLang="en-US" sz="6300" b="0">
                <a:solidFill>
                  <a:schemeClr val="tx1"/>
                </a:solidFill>
                <a:effectLst>
                  <a:outerShdw blurRad="38100" dist="38100" dir="2700000" algn="tl">
                    <a:srgbClr val="000000"/>
                  </a:outerShdw>
                </a:effectLst>
              </a:rPr>
              <a:t>Overview</a:t>
            </a:r>
          </a:p>
        </p:txBody>
      </p:sp>
      <p:sp>
        <p:nvSpPr>
          <p:cNvPr id="17411" name="Rectangle 3">
            <a:extLst>
              <a:ext uri="{FF2B5EF4-FFF2-40B4-BE49-F238E27FC236}">
                <a16:creationId xmlns:a16="http://schemas.microsoft.com/office/drawing/2014/main" id="{145A24ED-71C7-57FA-34E5-0C01CEB24459}"/>
              </a:ext>
            </a:extLst>
          </p:cNvPr>
          <p:cNvSpPr>
            <a:spLocks noGrp="1" noChangeArrowheads="1"/>
          </p:cNvSpPr>
          <p:nvPr>
            <p:ph idx="1"/>
          </p:nvPr>
        </p:nvSpPr>
        <p:spPr>
          <a:xfrm>
            <a:off x="500634" y="4206876"/>
            <a:ext cx="3106169" cy="1645920"/>
          </a:xfrm>
        </p:spPr>
        <p:txBody>
          <a:bodyPr vert="horz" lIns="91440" tIns="45720" rIns="91440" bIns="45720" rtlCol="0">
            <a:normAutofit/>
          </a:bodyPr>
          <a:lstStyle/>
          <a:p>
            <a:pPr marL="0" indent="0">
              <a:buNone/>
            </a:pPr>
            <a:endParaRPr lang="en-US" altLang="en-US" b="0" dirty="0">
              <a:solidFill>
                <a:schemeClr val="tx1"/>
              </a:solidFill>
              <a:latin typeface="+mj-lt"/>
            </a:endParaRPr>
          </a:p>
        </p:txBody>
      </p:sp>
      <p:sp>
        <p:nvSpPr>
          <p:cNvPr id="246791" name="Rectangle 246790">
            <a:extLst>
              <a:ext uri="{FF2B5EF4-FFF2-40B4-BE49-F238E27FC236}">
                <a16:creationId xmlns:a16="http://schemas.microsoft.com/office/drawing/2014/main" id="{0C751186-1C3A-40C4-A00A-D948FC93BF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89402" y="0"/>
            <a:ext cx="50545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accoon Mario - Super Mario Wiki, the Mario encyclopedia">
            <a:extLst>
              <a:ext uri="{FF2B5EF4-FFF2-40B4-BE49-F238E27FC236}">
                <a16:creationId xmlns:a16="http://schemas.microsoft.com/office/drawing/2014/main" id="{99F9D6EC-4663-DF27-0094-E35882D8BB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15" r="20815" b="4"/>
          <a:stretch/>
        </p:blipFill>
        <p:spPr bwMode="auto">
          <a:xfrm>
            <a:off x="4286520" y="321731"/>
            <a:ext cx="2483832" cy="3731500"/>
          </a:xfrm>
          <a:prstGeom prst="rect">
            <a:avLst/>
          </a:prstGeom>
          <a:noFill/>
          <a:extLst>
            <a:ext uri="{909E8E84-426E-40DD-AFC4-6F175D3DCCD1}">
              <a14:hiddenFill xmlns:a14="http://schemas.microsoft.com/office/drawing/2010/main">
                <a:solidFill>
                  <a:srgbClr val="FFFFFF"/>
                </a:solidFill>
              </a14:hiddenFill>
            </a:ext>
          </a:extLst>
        </p:spPr>
      </p:pic>
      <p:sp>
        <p:nvSpPr>
          <p:cNvPr id="246793" name="Rectangle 246792">
            <a:extLst>
              <a:ext uri="{FF2B5EF4-FFF2-40B4-BE49-F238E27FC236}">
                <a16:creationId xmlns:a16="http://schemas.microsoft.com/office/drawing/2014/main" id="{583F9A8A-A006-4CF5-A662-A184CBCF86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0338" y="321731"/>
            <a:ext cx="2019904" cy="2140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795" name="Rectangle 246794">
            <a:extLst>
              <a:ext uri="{FF2B5EF4-FFF2-40B4-BE49-F238E27FC236}">
                <a16:creationId xmlns:a16="http://schemas.microsoft.com/office/drawing/2014/main" id="{1B7FD1A2-8A15-402F-8ECB-74AB3AD7D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6250" y="4216579"/>
            <a:ext cx="2490571" cy="2338117"/>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hape&#10;&#10;Description automatically generated">
            <a:extLst>
              <a:ext uri="{FF2B5EF4-FFF2-40B4-BE49-F238E27FC236}">
                <a16:creationId xmlns:a16="http://schemas.microsoft.com/office/drawing/2014/main" id="{05B84D0E-CC08-57E3-37BB-62AA7AD0CA7A}"/>
              </a:ext>
            </a:extLst>
          </p:cNvPr>
          <p:cNvPicPr>
            <a:picLocks noChangeAspect="1"/>
          </p:cNvPicPr>
          <p:nvPr/>
        </p:nvPicPr>
        <p:blipFill rotWithShape="1">
          <a:blip r:embed="rId4"/>
          <a:srcRect l="10118" r="26605" b="-3"/>
          <a:stretch/>
        </p:blipFill>
        <p:spPr>
          <a:xfrm>
            <a:off x="6880344" y="2625779"/>
            <a:ext cx="2019906" cy="39289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46786"/>
                                        </p:tgtEl>
                                        <p:attrNameLst>
                                          <p:attrName>style.visibility</p:attrName>
                                        </p:attrNameLst>
                                      </p:cBhvr>
                                      <p:to>
                                        <p:strVal val="visible"/>
                                      </p:to>
                                    </p:set>
                                    <p:animEffect transition="in" filter="fade">
                                      <p:cBhvr>
                                        <p:cTn id="7" dur="400"/>
                                        <p:tgtEl>
                                          <p:spTgt spid="24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03F0228-2DBF-D6B6-FDF8-A221BC575CA7}"/>
              </a:ext>
            </a:extLst>
          </p:cNvPr>
          <p:cNvSpPr>
            <a:spLocks noGrp="1" noChangeArrowheads="1"/>
          </p:cNvSpPr>
          <p:nvPr>
            <p:ph type="ctrTitle"/>
          </p:nvPr>
        </p:nvSpPr>
        <p:spPr>
          <a:xfrm>
            <a:off x="685800" y="381000"/>
            <a:ext cx="7772400" cy="2895600"/>
          </a:xfrm>
        </p:spPr>
        <p:txBody>
          <a:bodyPr/>
          <a:lstStyle/>
          <a:p>
            <a:r>
              <a:rPr lang="en-US" altLang="en-US" dirty="0">
                <a:effectLst>
                  <a:outerShdw blurRad="38100" dist="38100" dir="2700000" algn="tl">
                    <a:srgbClr val="000000"/>
                  </a:outerShdw>
                </a:effectLst>
                <a:ea typeface="ＭＳ Ｐゴシック" panose="020B0600070205080204" pitchFamily="34" charset="-128"/>
              </a:rPr>
              <a:t>Super Mario</a:t>
            </a:r>
            <a:br>
              <a:rPr lang="en-US" altLang="en-US" dirty="0">
                <a:effectLst>
                  <a:outerShdw blurRad="38100" dist="38100" dir="2700000" algn="tl">
                    <a:srgbClr val="000000"/>
                  </a:outerShdw>
                </a:effectLst>
                <a:ea typeface="ＭＳ Ｐゴシック" panose="020B0600070205080204" pitchFamily="34" charset="-128"/>
              </a:rPr>
            </a:br>
            <a:endParaRPr lang="en-US" altLang="en-US" sz="8000" dirty="0">
              <a:effectLst>
                <a:outerShdw blurRad="38100" dist="38100" dir="2700000" algn="tl">
                  <a:srgbClr val="000000"/>
                </a:outerShdw>
              </a:effectLst>
              <a:ea typeface="ＭＳ Ｐゴシック" panose="020B0600070205080204" pitchFamily="34" charset="-128"/>
            </a:endParaRPr>
          </a:p>
        </p:txBody>
      </p:sp>
      <p:pic>
        <p:nvPicPr>
          <p:cNvPr id="1026" name="Picture 2" descr="RANKED: These Are the 10 Best Super Mario Games of All Time">
            <a:extLst>
              <a:ext uri="{FF2B5EF4-FFF2-40B4-BE49-F238E27FC236}">
                <a16:creationId xmlns:a16="http://schemas.microsoft.com/office/drawing/2014/main" id="{E87F8F46-9007-0670-DD80-7428BE1B7D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48232"/>
            <a:ext cx="80772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642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CA8A-EB00-7185-C605-DD1979FD7472}"/>
              </a:ext>
            </a:extLst>
          </p:cNvPr>
          <p:cNvSpPr>
            <a:spLocks noGrp="1"/>
          </p:cNvSpPr>
          <p:nvPr>
            <p:ph type="title"/>
          </p:nvPr>
        </p:nvSpPr>
        <p:spPr>
          <a:xfrm>
            <a:off x="5029200" y="533399"/>
            <a:ext cx="3628103" cy="1624331"/>
          </a:xfrm>
        </p:spPr>
        <p:txBody>
          <a:bodyPr vert="horz" lIns="91440" tIns="45720" rIns="91440" bIns="45720" rtlCol="0" anchor="ctr">
            <a:normAutofit/>
          </a:bodyPr>
          <a:lstStyle/>
          <a:p>
            <a:pPr>
              <a:lnSpc>
                <a:spcPct val="85000"/>
              </a:lnSpc>
            </a:pPr>
            <a:r>
              <a:rPr lang="en-US" altLang="en-US" sz="2900" dirty="0">
                <a:effectLst>
                  <a:outerShdw blurRad="38100" dist="38100" dir="2700000" algn="tl">
                    <a:srgbClr val="000000"/>
                  </a:outerShdw>
                </a:effectLst>
              </a:rPr>
              <a:t>Super Mario</a:t>
            </a:r>
            <a:br>
              <a:rPr lang="en-US" altLang="en-US" sz="2900" dirty="0">
                <a:effectLst>
                  <a:outerShdw blurRad="38100" dist="38100" dir="2700000" algn="tl">
                    <a:srgbClr val="000000"/>
                  </a:outerShdw>
                </a:effectLst>
              </a:rPr>
            </a:br>
            <a:br>
              <a:rPr lang="en-US" altLang="en-US" sz="2900" dirty="0">
                <a:effectLst>
                  <a:outerShdw blurRad="38100" dist="38100" dir="2700000" algn="tl">
                    <a:srgbClr val="000000"/>
                  </a:outerShdw>
                </a:effectLst>
              </a:rPr>
            </a:br>
            <a:endParaRPr lang="en-US" altLang="en-US" sz="2900" dirty="0">
              <a:effectLst>
                <a:outerShdw blurRad="38100" dist="38100" dir="2700000" algn="tl">
                  <a:srgbClr val="000000"/>
                </a:outerShdw>
              </a:effectLst>
            </a:endParaRPr>
          </a:p>
        </p:txBody>
      </p:sp>
      <p:pic>
        <p:nvPicPr>
          <p:cNvPr id="2050" name="Picture 2" descr="Mario - Super Mario Wiki, the Mario encyclopedia">
            <a:extLst>
              <a:ext uri="{FF2B5EF4-FFF2-40B4-BE49-F238E27FC236}">
                <a16:creationId xmlns:a16="http://schemas.microsoft.com/office/drawing/2014/main" id="{C915B0B4-AFC9-48BA-6CB3-BDE51B9D4DF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5499" y="669244"/>
            <a:ext cx="5184163" cy="55297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6EA6D50-76D7-7A4C-0DB0-0D5F9D43E343}"/>
              </a:ext>
            </a:extLst>
          </p:cNvPr>
          <p:cNvSpPr txBox="1"/>
          <p:nvPr/>
        </p:nvSpPr>
        <p:spPr>
          <a:xfrm>
            <a:off x="5029200" y="1371600"/>
            <a:ext cx="3628103" cy="4504812"/>
          </a:xfrm>
          <a:prstGeom prst="rect">
            <a:avLst/>
          </a:prstGeom>
        </p:spPr>
        <p:txBody>
          <a:bodyPr vert="horz" lIns="91440" tIns="45720" rIns="91440" bIns="45720" rtlCol="0">
            <a:normAutofit/>
          </a:bodyPr>
          <a:lstStyle/>
          <a:p>
            <a:pPr algn="l"/>
            <a:r>
              <a:rPr lang="en-US" sz="3000" b="0" i="0" u="none" strike="noStrike" baseline="0" dirty="0">
                <a:latin typeface="+mj-lt"/>
              </a:rPr>
              <a:t>Take control of flying Mario and try to avoid the obstacles including Flying Birds, Pipes and Houses as Mario flies.</a:t>
            </a:r>
            <a:endParaRPr lang="en-US" sz="30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A40E-A489-6B15-CCE7-743ED3AB3964}"/>
              </a:ext>
            </a:extLst>
          </p:cNvPr>
          <p:cNvSpPr>
            <a:spLocks noGrp="1"/>
          </p:cNvSpPr>
          <p:nvPr>
            <p:ph type="title"/>
          </p:nvPr>
        </p:nvSpPr>
        <p:spPr>
          <a:xfrm>
            <a:off x="5949778" y="770466"/>
            <a:ext cx="2805203" cy="5401733"/>
          </a:xfrm>
        </p:spPr>
        <p:txBody>
          <a:bodyPr vert="horz" lIns="91440" tIns="45720" rIns="91440" bIns="45720" rtlCol="0" anchor="b">
            <a:noAutofit/>
          </a:bodyPr>
          <a:lstStyle/>
          <a:p>
            <a:r>
              <a:rPr lang="en-US" sz="2200" b="1" i="0" u="none" strike="noStrike" baseline="0" dirty="0">
                <a:solidFill>
                  <a:schemeClr val="tx1"/>
                </a:solidFill>
              </a:rPr>
              <a:t>When the game starts, a flying Mario</a:t>
            </a:r>
            <a:br>
              <a:rPr lang="en-US" sz="2200" b="1" i="0" u="none" strike="noStrike" baseline="0" dirty="0">
                <a:solidFill>
                  <a:schemeClr val="tx1"/>
                </a:solidFill>
              </a:rPr>
            </a:br>
            <a:r>
              <a:rPr lang="en-US" sz="2200" b="1" i="0" u="none" strike="noStrike" baseline="0" dirty="0">
                <a:solidFill>
                  <a:schemeClr val="tx1"/>
                </a:solidFill>
              </a:rPr>
              <a:t>appears in the middle of the screen. You</a:t>
            </a:r>
            <a:br>
              <a:rPr lang="en-US" sz="2200" b="1" i="0" u="none" strike="noStrike" baseline="0" dirty="0">
                <a:solidFill>
                  <a:schemeClr val="tx1"/>
                </a:solidFill>
              </a:rPr>
            </a:br>
            <a:r>
              <a:rPr lang="en-US" sz="2200" b="1" i="0" u="none" strike="noStrike" baseline="0" dirty="0">
                <a:solidFill>
                  <a:schemeClr val="tx1"/>
                </a:solidFill>
              </a:rPr>
              <a:t>need to use the mouse button to make Mario rise or fall. The challenge is to keep Mario in the air without hitting any</a:t>
            </a:r>
            <a:br>
              <a:rPr lang="en-US" sz="2200" b="1" i="0" u="none" strike="noStrike" baseline="0" dirty="0">
                <a:solidFill>
                  <a:schemeClr val="tx1"/>
                </a:solidFill>
              </a:rPr>
            </a:br>
            <a:r>
              <a:rPr lang="en-US" sz="2200" b="1" i="0" u="none" strike="noStrike" baseline="0" dirty="0">
                <a:solidFill>
                  <a:schemeClr val="tx1"/>
                </a:solidFill>
              </a:rPr>
              <a:t>birds, houses, or </a:t>
            </a:r>
            <a:r>
              <a:rPr lang="en-US" sz="2200" b="1" dirty="0">
                <a:solidFill>
                  <a:schemeClr val="tx1"/>
                </a:solidFill>
              </a:rPr>
              <a:t>pipe</a:t>
            </a:r>
            <a:r>
              <a:rPr lang="en-US" sz="2200" b="1" i="0" u="none" strike="noStrike" baseline="0" dirty="0">
                <a:solidFill>
                  <a:schemeClr val="tx1"/>
                </a:solidFill>
              </a:rPr>
              <a:t>s. For every obstacle</a:t>
            </a:r>
            <a:br>
              <a:rPr lang="en-US" sz="2200" b="1" i="0" u="none" strike="noStrike" baseline="0" dirty="0">
                <a:solidFill>
                  <a:schemeClr val="tx1"/>
                </a:solidFill>
              </a:rPr>
            </a:br>
            <a:r>
              <a:rPr lang="en-US" sz="2200" b="1" i="0" u="none" strike="noStrike" baseline="0" dirty="0">
                <a:solidFill>
                  <a:schemeClr val="tx1"/>
                </a:solidFill>
              </a:rPr>
              <a:t>you avoid, you’ll score one point. But as</a:t>
            </a:r>
            <a:br>
              <a:rPr lang="en-US" sz="2200" b="1" i="0" u="none" strike="noStrike" baseline="0" dirty="0">
                <a:solidFill>
                  <a:schemeClr val="tx1"/>
                </a:solidFill>
              </a:rPr>
            </a:br>
            <a:r>
              <a:rPr lang="en-US" sz="2200" b="1" i="0" u="none" strike="noStrike" baseline="0" dirty="0">
                <a:solidFill>
                  <a:schemeClr val="tx1"/>
                </a:solidFill>
              </a:rPr>
              <a:t>soon as you hit one, the game is over.</a:t>
            </a:r>
            <a:endParaRPr lang="en-US" sz="2200" b="1" dirty="0">
              <a:solidFill>
                <a:schemeClr val="tx1"/>
              </a:solidFill>
            </a:endParaRPr>
          </a:p>
        </p:txBody>
      </p:sp>
      <p:pic>
        <p:nvPicPr>
          <p:cNvPr id="4098" name="Picture 2" descr="Flying Squirrel Mario | MarioWiki | Fandom">
            <a:extLst>
              <a:ext uri="{FF2B5EF4-FFF2-40B4-BE49-F238E27FC236}">
                <a16:creationId xmlns:a16="http://schemas.microsoft.com/office/drawing/2014/main" id="{0272D42C-1E0C-28E6-EDDB-EC516A5263E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472" r="6935"/>
          <a:stretch/>
        </p:blipFill>
        <p:spPr bwMode="auto">
          <a:xfrm>
            <a:off x="-7715" y="10"/>
            <a:ext cx="566420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97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a:extLst>
              <a:ext uri="{FF2B5EF4-FFF2-40B4-BE49-F238E27FC236}">
                <a16:creationId xmlns:a16="http://schemas.microsoft.com/office/drawing/2014/main" id="{717174EF-178D-6912-33DA-C8D905EC3019}"/>
              </a:ext>
            </a:extLst>
          </p:cNvPr>
          <p:cNvGraphicFramePr>
            <a:graphicFrameLocks noChangeAspect="1"/>
          </p:cNvGraphicFramePr>
          <p:nvPr>
            <p:extLst>
              <p:ext uri="{D42A27DB-BD31-4B8C-83A1-F6EECF244321}">
                <p14:modId xmlns:p14="http://schemas.microsoft.com/office/powerpoint/2010/main" val="3397578584"/>
              </p:ext>
            </p:extLst>
          </p:nvPr>
        </p:nvGraphicFramePr>
        <p:xfrm>
          <a:off x="592506" y="0"/>
          <a:ext cx="8094294" cy="6858000"/>
        </p:xfrm>
        <a:graphic>
          <a:graphicData uri="http://schemas.openxmlformats.org/presentationml/2006/ole">
            <mc:AlternateContent xmlns:mc="http://schemas.openxmlformats.org/markup-compatibility/2006">
              <mc:Choice xmlns:v="urn:schemas-microsoft-com:vml" Requires="v">
                <p:oleObj name="Bitmap Image" r:id="rId2" imgW="7482960" imgH="6339960" progId="PBrush">
                  <p:embed/>
                </p:oleObj>
              </mc:Choice>
              <mc:Fallback>
                <p:oleObj name="Bitmap Image" r:id="rId2" imgW="7482960" imgH="6339960" progId="PBrush">
                  <p:embed/>
                  <p:pic>
                    <p:nvPicPr>
                      <p:cNvPr id="0" name=""/>
                      <p:cNvPicPr/>
                      <p:nvPr/>
                    </p:nvPicPr>
                    <p:blipFill>
                      <a:blip r:embed="rId3"/>
                      <a:stretch>
                        <a:fillRect/>
                      </a:stretch>
                    </p:blipFill>
                    <p:spPr>
                      <a:xfrm>
                        <a:off x="592506" y="0"/>
                        <a:ext cx="8094294" cy="6858000"/>
                      </a:xfrm>
                      <a:prstGeom prst="rect">
                        <a:avLst/>
                      </a:prstGeom>
                    </p:spPr>
                  </p:pic>
                </p:oleObj>
              </mc:Fallback>
            </mc:AlternateContent>
          </a:graphicData>
        </a:graphic>
      </p:graphicFrame>
    </p:spTree>
    <p:extLst>
      <p:ext uri="{BB962C8B-B14F-4D97-AF65-F5344CB8AC3E}">
        <p14:creationId xmlns:p14="http://schemas.microsoft.com/office/powerpoint/2010/main" val="1848286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EC41205-19DA-FB65-76D4-E0B8A82E7E69}"/>
              </a:ext>
            </a:extLst>
          </p:cNvPr>
          <p:cNvSpPr>
            <a:spLocks noGrp="1" noChangeArrowheads="1"/>
          </p:cNvSpPr>
          <p:nvPr>
            <p:ph type="ctrTitle"/>
          </p:nvPr>
        </p:nvSpPr>
        <p:spPr>
          <a:xfrm>
            <a:off x="5949778" y="770467"/>
            <a:ext cx="2805203" cy="3352800"/>
          </a:xfrm>
        </p:spPr>
        <p:txBody>
          <a:bodyPr>
            <a:normAutofit/>
          </a:bodyPr>
          <a:lstStyle/>
          <a:p>
            <a:r>
              <a:rPr lang="en-US" altLang="en-US" sz="4700">
                <a:effectLst>
                  <a:outerShdw blurRad="38100" dist="38100" dir="2700000" algn="tl">
                    <a:srgbClr val="000000"/>
                  </a:outerShdw>
                </a:effectLst>
                <a:ea typeface="ＭＳ Ｐゴシック" panose="020B0600070205080204" pitchFamily="34" charset="-128"/>
              </a:rPr>
              <a:t>Summary</a:t>
            </a:r>
          </a:p>
        </p:txBody>
      </p:sp>
      <p:sp>
        <p:nvSpPr>
          <p:cNvPr id="61447" name="Rectangle 61446">
            <a:extLst>
              <a:ext uri="{FF2B5EF4-FFF2-40B4-BE49-F238E27FC236}">
                <a16:creationId xmlns:a16="http://schemas.microsoft.com/office/drawing/2014/main" id="{C373D705-BB72-4507-AAFD-943E4B2CE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21071" cy="394895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059" name="Picture 4" descr="AN03633_">
            <a:extLst>
              <a:ext uri="{FF2B5EF4-FFF2-40B4-BE49-F238E27FC236}">
                <a16:creationId xmlns:a16="http://schemas.microsoft.com/office/drawing/2014/main" id="{B858A6CE-12A2-B09D-BC1A-02EB02355DD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1299" y="1033699"/>
            <a:ext cx="2542131" cy="19001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9" name="Rectangle 61448">
            <a:extLst>
              <a:ext uri="{FF2B5EF4-FFF2-40B4-BE49-F238E27FC236}">
                <a16:creationId xmlns:a16="http://schemas.microsoft.com/office/drawing/2014/main" id="{65FEEAFB-13A9-41A7-9993-48E6EDCDC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7195" y="1"/>
            <a:ext cx="2316342" cy="2796158"/>
          </a:xfrm>
          <a:prstGeom prst="rect">
            <a:avLst/>
          </a:prstGeom>
          <a:solidFill>
            <a:schemeClr val="accent1">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51" name="Rectangle 61450">
            <a:extLst>
              <a:ext uri="{FF2B5EF4-FFF2-40B4-BE49-F238E27FC236}">
                <a16:creationId xmlns:a16="http://schemas.microsoft.com/office/drawing/2014/main" id="{0F000C23-48F1-4FC4-9743-D9C09F04D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09826"/>
            <a:ext cx="3021078" cy="2753311"/>
          </a:xfrm>
          <a:prstGeom prst="rect">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53" name="Rectangle 61452">
            <a:extLst>
              <a:ext uri="{FF2B5EF4-FFF2-40B4-BE49-F238E27FC236}">
                <a16:creationId xmlns:a16="http://schemas.microsoft.com/office/drawing/2014/main" id="{67C5EBE7-3107-4DB7-8110-D97455CE5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7195" y="2989781"/>
            <a:ext cx="2316342" cy="38682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ario Flying transparent PNG - StickPNG">
            <a:extLst>
              <a:ext uri="{FF2B5EF4-FFF2-40B4-BE49-F238E27FC236}">
                <a16:creationId xmlns:a16="http://schemas.microsoft.com/office/drawing/2014/main" id="{11026E06-5399-FC6F-EDCD-82D168166BD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377254" y="4083421"/>
            <a:ext cx="1844982" cy="16985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B94DC-048A-B0D5-78FE-116FF6BE2385}"/>
              </a:ext>
            </a:extLst>
          </p:cNvPr>
          <p:cNvSpPr>
            <a:spLocks noGrp="1"/>
          </p:cNvSpPr>
          <p:nvPr>
            <p:ph type="title"/>
          </p:nvPr>
        </p:nvSpPr>
        <p:spPr/>
        <p:txBody>
          <a:bodyPr/>
          <a:lstStyle/>
          <a:p>
            <a:r>
              <a:rPr lang="en-US" dirty="0"/>
              <a:t>Any Questions?</a:t>
            </a:r>
          </a:p>
        </p:txBody>
      </p:sp>
      <p:pic>
        <p:nvPicPr>
          <p:cNvPr id="1026" name="Picture 2" descr="Super Mario Run - Apps on Google Play">
            <a:extLst>
              <a:ext uri="{FF2B5EF4-FFF2-40B4-BE49-F238E27FC236}">
                <a16:creationId xmlns:a16="http://schemas.microsoft.com/office/drawing/2014/main" id="{BB0BF535-9C4B-E7B0-E80B-3A643AAE7DB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4600" y="2590459"/>
            <a:ext cx="3765550" cy="376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882741"/>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D5487D36-20B9-4AF8-9845-4EE893DA08C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Metropolitan</Template>
  <TotalTime>7694</TotalTime>
  <Words>130</Words>
  <Application>Microsoft Office PowerPoint</Application>
  <PresentationFormat>On-screen Show (4:3)</PresentationFormat>
  <Paragraphs>10</Paragraphs>
  <Slides>8</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ＭＳ Ｐゴシック</vt:lpstr>
      <vt:lpstr>Arial</vt:lpstr>
      <vt:lpstr>Calibri</vt:lpstr>
      <vt:lpstr>Calibri Light</vt:lpstr>
      <vt:lpstr>Times New Roman</vt:lpstr>
      <vt:lpstr>Metropolitan</vt:lpstr>
      <vt:lpstr>Bitmap Image</vt:lpstr>
      <vt:lpstr>Python Programming: Super Mario Game</vt:lpstr>
      <vt:lpstr>Overview</vt:lpstr>
      <vt:lpstr>Super Mario </vt:lpstr>
      <vt:lpstr>Super Mario  </vt:lpstr>
      <vt:lpstr>When the game starts, a flying Mario appears in the middle of the screen. You need to use the mouse button to make Mario rise or fall. The challenge is to keep Mario in the air without hitting any birds, houses, or pipes. For every obstacle you avoid, you’ll score one point. But as soon as you hit one, the game is over.</vt:lpstr>
      <vt:lpstr>PowerPoint Presentation</vt:lpstr>
      <vt:lpstr>Summary</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dc:title>
  <dc:creator>Matt Huenerfauth</dc:creator>
  <cp:lastModifiedBy>Wang, Xin</cp:lastModifiedBy>
  <cp:revision>461</cp:revision>
  <cp:lastPrinted>2008-11-03T20:43:19Z</cp:lastPrinted>
  <dcterms:created xsi:type="dcterms:W3CDTF">2009-09-14T19:39:05Z</dcterms:created>
  <dcterms:modified xsi:type="dcterms:W3CDTF">2025-06-21T15:28:04Z</dcterms:modified>
</cp:coreProperties>
</file>